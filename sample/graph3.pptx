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NOTIFY"/>
          <p:cNvSpPr/>
          <p:nvPr/>
        </p:nvSpPr>
        <p:spPr>
          <a:xfrm>
            <a:off x="4119641" y="5476147"/>
            <a:ext cx="3952718" cy="1037238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通知基盤</a:t>
            </a:r>
          </a:p>
        </p:txBody>
      </p:sp>
      <p:sp>
        <p:nvSpPr>
          <p:cNvPr id="3" name="REQ"/>
          <p:cNvSpPr/>
          <p:nvPr/>
        </p:nvSpPr>
        <p:spPr>
          <a:xfrm>
            <a:off x="4850599" y="344615"/>
            <a:ext cx="1511342" cy="474491"/>
          </a:xfrm>
          <a:prstGeom prst="roundRect">
            <a:avLst/>
          </a:prstGeom>
          <a:solidFill>
            <a:srgbClr val="E7EEFB"/>
          </a:solidFill>
          <a:ln w="12700">
            <a:solidFill>
              <a:srgbClr val="5B7FD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1A1A1A"/>
                </a:solidFill>
                <a:latin typeface="Noto Sans JP"/>
                <a:ea typeface="Noto Sans JP"/>
              </a:rPr>
              <a:t>申込リクエスト</a:t>
            </a:r>
          </a:p>
        </p:txBody>
      </p:sp>
      <p:sp>
        <p:nvSpPr>
          <p:cNvPr id="4" name="CHECK"/>
          <p:cNvSpPr/>
          <p:nvPr/>
        </p:nvSpPr>
        <p:spPr>
          <a:xfrm>
            <a:off x="4846205" y="1258449"/>
            <a:ext cx="1528915" cy="1528915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5A4500"/>
                </a:solidFill>
                <a:latin typeface="Noto Sans JP"/>
                <a:ea typeface="Noto Sans JP"/>
              </a:rPr>
              <a:t>審査</a:t>
            </a:r>
          </a:p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5A4500"/>
                </a:solidFill>
                <a:latin typeface="Noto Sans JP"/>
                <a:ea typeface="Noto Sans JP"/>
              </a:rPr>
              <a:t>スコアリング</a:t>
            </a:r>
          </a:p>
        </p:txBody>
      </p:sp>
      <p:sp>
        <p:nvSpPr>
          <p:cNvPr id="5" name="ISSUE"/>
          <p:cNvSpPr/>
          <p:nvPr/>
        </p:nvSpPr>
        <p:spPr>
          <a:xfrm>
            <a:off x="4494730" y="4562312"/>
            <a:ext cx="1089572" cy="474491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4C9A2A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1A4314"/>
                </a:solidFill>
                <a:latin typeface="Noto Sans JP"/>
                <a:ea typeface="Noto Sans JP"/>
              </a:rPr>
              <a:t>契約発行</a:t>
            </a:r>
          </a:p>
        </p:txBody>
      </p:sp>
      <p:sp>
        <p:nvSpPr>
          <p:cNvPr id="6" name="MANUAL"/>
          <p:cNvSpPr/>
          <p:nvPr/>
        </p:nvSpPr>
        <p:spPr>
          <a:xfrm>
            <a:off x="5027709" y="3437593"/>
            <a:ext cx="1370752" cy="474491"/>
          </a:xfrm>
          <a:prstGeom prst="round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6E2C00"/>
                </a:solidFill>
                <a:latin typeface="Noto Sans JP"/>
                <a:ea typeface="Noto Sans JP"/>
              </a:rPr>
              <a:t>人手レビュー</a:t>
            </a:r>
          </a:p>
        </p:txBody>
      </p:sp>
      <p:sp>
        <p:nvSpPr>
          <p:cNvPr id="7" name="REJECT"/>
          <p:cNvSpPr/>
          <p:nvPr/>
        </p:nvSpPr>
        <p:spPr>
          <a:xfrm>
            <a:off x="6499510" y="4562312"/>
            <a:ext cx="1089572" cy="474491"/>
          </a:xfrm>
          <a:prstGeom prst="roundRect">
            <a:avLst/>
          </a:prstGeom>
          <a:solidFill>
            <a:srgbClr val="F8D7DA"/>
          </a:solidFill>
          <a:ln w="12700">
            <a:solidFill>
              <a:srgbClr val="D9534F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7A1A1A"/>
                </a:solidFill>
                <a:latin typeface="Noto Sans JP"/>
                <a:ea typeface="Noto Sans JP"/>
              </a:rPr>
              <a:t>否決通知</a:t>
            </a:r>
          </a:p>
        </p:txBody>
      </p:sp>
      <p:sp>
        <p:nvSpPr>
          <p:cNvPr id="8" name="MAIL"/>
          <p:cNvSpPr/>
          <p:nvPr/>
        </p:nvSpPr>
        <p:spPr>
          <a:xfrm>
            <a:off x="4427181" y="5757520"/>
            <a:ext cx="1224670" cy="474491"/>
          </a:xfrm>
          <a:prstGeom prst="roundRect">
            <a:avLst/>
          </a:prstGeom>
          <a:solidFill>
            <a:srgbClr val="EEEEEE"/>
          </a:solidFill>
          <a:ln w="12700">
            <a:solidFill>
              <a:srgbClr val="888888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メール送信</a:t>
            </a:r>
          </a:p>
        </p:txBody>
      </p:sp>
      <p:sp>
        <p:nvSpPr>
          <p:cNvPr id="9" name="LOG"/>
          <p:cNvSpPr/>
          <p:nvPr/>
        </p:nvSpPr>
        <p:spPr>
          <a:xfrm>
            <a:off x="7070656" y="5695818"/>
            <a:ext cx="694163" cy="597895"/>
          </a:xfrm>
          <a:prstGeom prst="can">
            <a:avLst>
              <a:gd name="adj" fmla="val 28456"/>
            </a:avLst>
          </a:prstGeom>
          <a:solidFill>
            <a:srgbClr val="EEEEEE"/>
          </a:solidFill>
          <a:ln w="12700">
            <a:solidFill>
              <a:srgbClr val="888888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監査ログ</a:t>
            </a:r>
          </a:p>
        </p:txBody>
      </p:sp>
      <p:cxnSp>
        <p:nvCxnSpPr>
          <p:cNvPr id="10" name="edge REQ-CHECK"/>
          <p:cNvCxnSpPr>
            <a:cxnSpLocks/>
            <a:stCxn id="3" idx="2"/>
            <a:endCxn id="4" idx="0"/>
          </p:cNvCxnSpPr>
          <p:nvPr/>
        </p:nvCxnSpPr>
        <p:spPr>
          <a:xfrm>
            <a:off x="5606269" y="819106"/>
            <a:ext cx="0" cy="439343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CHECK-ISSUE"/>
          <p:cNvCxnSpPr>
            <a:cxnSpLocks/>
            <a:stCxn id="4" idx="2"/>
            <a:endCxn id="5" idx="0"/>
          </p:cNvCxnSpPr>
          <p:nvPr/>
        </p:nvCxnSpPr>
        <p:spPr>
          <a:xfrm rot="5400000">
            <a:off x="3967530" y="3294443"/>
            <a:ext cx="2145819" cy="38991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CHECK-MANUAL"/>
          <p:cNvCxnSpPr>
            <a:cxnSpLocks/>
            <a:stCxn id="4" idx="2"/>
            <a:endCxn id="6" idx="0"/>
          </p:cNvCxnSpPr>
          <p:nvPr/>
        </p:nvCxnSpPr>
        <p:spPr>
          <a:xfrm rot="5400000" flipV="1">
            <a:off x="5082570" y="2979452"/>
            <a:ext cx="816034" cy="10024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CHECK-REJECT"/>
          <p:cNvCxnSpPr>
            <a:cxnSpLocks/>
            <a:stCxn id="4" idx="3"/>
            <a:endCxn id="7" idx="0"/>
          </p:cNvCxnSpPr>
          <p:nvPr/>
        </p:nvCxnSpPr>
        <p:spPr>
          <a:xfrm>
            <a:off x="6041192" y="2352442"/>
            <a:ext cx="1003103" cy="220987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MANUAL-CHECK"/>
          <p:cNvCxnSpPr>
            <a:cxnSpLocks/>
            <a:stCxn id="6" idx="0"/>
            <a:endCxn id="4" idx="2"/>
          </p:cNvCxnSpPr>
          <p:nvPr/>
        </p:nvCxnSpPr>
        <p:spPr>
          <a:xfrm rot="5400000" flipH="1">
            <a:off x="5413336" y="2980298"/>
            <a:ext cx="884099" cy="30491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MANUAL-ISSUE"/>
          <p:cNvCxnSpPr>
            <a:cxnSpLocks/>
            <a:stCxn id="6" idx="2"/>
            <a:endCxn id="5" idx="0"/>
          </p:cNvCxnSpPr>
          <p:nvPr/>
        </p:nvCxnSpPr>
        <p:spPr>
          <a:xfrm rot="5400000">
            <a:off x="5193267" y="4042495"/>
            <a:ext cx="650228" cy="389407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ISSUE-MAIL"/>
          <p:cNvCxnSpPr>
            <a:cxnSpLocks/>
            <a:stCxn id="5" idx="2"/>
            <a:endCxn id="8" idx="0"/>
          </p:cNvCxnSpPr>
          <p:nvPr/>
        </p:nvCxnSpPr>
        <p:spPr>
          <a:xfrm rot="5400000" flipV="1">
            <a:off x="4549623" y="5388968"/>
            <a:ext cx="720717" cy="16386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REJECT-MAIL"/>
          <p:cNvCxnSpPr>
            <a:cxnSpLocks/>
            <a:stCxn id="7" idx="2"/>
            <a:endCxn id="8" idx="0"/>
          </p:cNvCxnSpPr>
          <p:nvPr/>
        </p:nvCxnSpPr>
        <p:spPr>
          <a:xfrm rot="5400000">
            <a:off x="5723869" y="4879647"/>
            <a:ext cx="720717" cy="103502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8" name="edge ISSUE-LOG"/>
          <p:cNvCxnSpPr>
            <a:cxnSpLocks/>
            <a:stCxn id="5" idx="3"/>
            <a:endCxn id="9" idx="1"/>
          </p:cNvCxnSpPr>
          <p:nvPr/>
        </p:nvCxnSpPr>
        <p:spPr>
          <a:xfrm>
            <a:off x="5584302" y="4985435"/>
            <a:ext cx="1486354" cy="836092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edge REJECT-LOG"/>
          <p:cNvCxnSpPr>
            <a:cxnSpLocks/>
            <a:stCxn id="7" idx="2"/>
            <a:endCxn id="9" idx="0"/>
          </p:cNvCxnSpPr>
          <p:nvPr/>
        </p:nvCxnSpPr>
        <p:spPr>
          <a:xfrm rot="5400000" flipV="1">
            <a:off x="6894072" y="5283978"/>
            <a:ext cx="663209" cy="168859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20" name="edge MANUAL-LOG"/>
          <p:cNvCxnSpPr>
            <a:cxnSpLocks/>
            <a:stCxn id="6" idx="3"/>
            <a:endCxn id="9" idx="0"/>
          </p:cNvCxnSpPr>
          <p:nvPr/>
        </p:nvCxnSpPr>
        <p:spPr>
          <a:xfrm>
            <a:off x="6398461" y="3851354"/>
            <a:ext cx="1295319" cy="1877966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21" name="承認"/>
          <p:cNvSpPr/>
          <p:nvPr/>
        </p:nvSpPr>
        <p:spPr>
          <a:xfrm>
            <a:off x="4403841" y="3551822"/>
            <a:ext cx="351475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承認</a:t>
            </a:r>
          </a:p>
        </p:txBody>
      </p:sp>
      <p:sp>
        <p:nvSpPr>
          <p:cNvPr id="22" name="保留"/>
          <p:cNvSpPr/>
          <p:nvPr/>
        </p:nvSpPr>
        <p:spPr>
          <a:xfrm>
            <a:off x="5143109" y="2937646"/>
            <a:ext cx="351475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保留</a:t>
            </a:r>
          </a:p>
        </p:txBody>
      </p:sp>
      <p:sp>
        <p:nvSpPr>
          <p:cNvPr id="23" name="否決"/>
          <p:cNvSpPr/>
          <p:nvPr/>
        </p:nvSpPr>
        <p:spPr>
          <a:xfrm>
            <a:off x="6868558" y="3551822"/>
            <a:ext cx="351475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否決</a:t>
            </a:r>
          </a:p>
        </p:txBody>
      </p:sp>
      <p:sp>
        <p:nvSpPr>
          <p:cNvPr id="24" name="再審査"/>
          <p:cNvSpPr/>
          <p:nvPr/>
        </p:nvSpPr>
        <p:spPr>
          <a:xfrm>
            <a:off x="5796005" y="2888529"/>
            <a:ext cx="492065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再審査</a:t>
            </a:r>
          </a:p>
        </p:txBody>
      </p:sp>
      <p:sp>
        <p:nvSpPr>
          <p:cNvPr id="25" name="承認"/>
          <p:cNvSpPr/>
          <p:nvPr/>
        </p:nvSpPr>
        <p:spPr>
          <a:xfrm>
            <a:off x="5537347" y="4114182"/>
            <a:ext cx="351475" cy="2460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100">
                <a:solidFill>
                  <a:srgbClr val="333333"/>
                </a:solidFill>
                <a:latin typeface="Noto Sans JP"/>
                <a:ea typeface="Noto Sans JP"/>
              </a:rPr>
              <a:t>承認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