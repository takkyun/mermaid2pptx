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line"/>
          <p:cNvCxnSpPr/>
          <p:nvPr/>
        </p:nvCxnSpPr>
        <p:spPr>
          <a:xfrm>
            <a:off x="8542734" y="1440656"/>
            <a:ext cx="0" cy="3964782"/>
          </a:xfrm>
          <a:prstGeom prst="straightConnector1">
            <a:avLst/>
          </a:prstGeom>
          <a:ln w="6350" cap="flat">
            <a:solidFill>
              <a:srgbClr val="999999"/>
            </a:solidFill>
            <a:round/>
            <a:headEnd type="none"/>
            <a:tailEnd type="none"/>
          </a:ln>
        </p:spPr>
      </p:cxnSp>
      <p:cxnSp>
        <p:nvCxnSpPr>
          <p:cNvPr id="3" name="line"/>
          <p:cNvCxnSpPr/>
          <p:nvPr/>
        </p:nvCxnSpPr>
        <p:spPr>
          <a:xfrm>
            <a:off x="6030516" y="1440656"/>
            <a:ext cx="0" cy="3964782"/>
          </a:xfrm>
          <a:prstGeom prst="straightConnector1">
            <a:avLst/>
          </a:prstGeom>
          <a:ln w="6350" cap="flat">
            <a:solidFill>
              <a:srgbClr val="999999"/>
            </a:solidFill>
            <a:round/>
            <a:headEnd type="none"/>
            <a:tailEnd type="none"/>
          </a:ln>
        </p:spPr>
      </p:cxnSp>
      <p:cxnSp>
        <p:nvCxnSpPr>
          <p:cNvPr id="4" name="line"/>
          <p:cNvCxnSpPr/>
          <p:nvPr/>
        </p:nvCxnSpPr>
        <p:spPr>
          <a:xfrm>
            <a:off x="3649266" y="1440656"/>
            <a:ext cx="0" cy="3964782"/>
          </a:xfrm>
          <a:prstGeom prst="straightConnector1">
            <a:avLst/>
          </a:prstGeom>
          <a:ln w="6350" cap="flat">
            <a:solidFill>
              <a:srgbClr val="999999"/>
            </a:solidFill>
            <a:round/>
            <a:headEnd type="none"/>
            <a:tailEnd type="none"/>
          </a:ln>
        </p:spPr>
      </p:cxnSp>
      <p:sp>
        <p:nvSpPr>
          <p:cNvPr id="5" name="R"/>
          <p:cNvSpPr/>
          <p:nvPr/>
        </p:nvSpPr>
        <p:spPr>
          <a:xfrm>
            <a:off x="7649766" y="5405438"/>
            <a:ext cx="1785938" cy="773906"/>
          </a:xfrm>
          <a:prstGeom prst="roundRect">
            <a:avLst>
              <a:gd name="adj" fmla="val 4615"/>
            </a:avLst>
          </a:prstGeom>
          <a:solidFill>
            <a:srgbClr val="EAEAEA"/>
          </a:solidFill>
          <a:ln w="12700">
            <a:solidFill>
              <a:srgbClr val="666666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リソース API</a:t>
            </a:r>
          </a:p>
        </p:txBody>
      </p:sp>
      <p:sp>
        <p:nvSpPr>
          <p:cNvPr id="6" name="A"/>
          <p:cNvSpPr/>
          <p:nvPr/>
        </p:nvSpPr>
        <p:spPr>
          <a:xfrm>
            <a:off x="5137547" y="5405438"/>
            <a:ext cx="1785938" cy="773906"/>
          </a:xfrm>
          <a:prstGeom prst="roundRect">
            <a:avLst>
              <a:gd name="adj" fmla="val 4615"/>
            </a:avLst>
          </a:prstGeom>
          <a:solidFill>
            <a:srgbClr val="EAEAEA"/>
          </a:solidFill>
          <a:ln w="12700">
            <a:solidFill>
              <a:srgbClr val="666666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認証サーバ</a:t>
            </a:r>
          </a:p>
        </p:txBody>
      </p:sp>
      <p:sp>
        <p:nvSpPr>
          <p:cNvPr id="7" name="B"/>
          <p:cNvSpPr/>
          <p:nvPr/>
        </p:nvSpPr>
        <p:spPr>
          <a:xfrm>
            <a:off x="2756297" y="5405438"/>
            <a:ext cx="1785938" cy="773906"/>
          </a:xfrm>
          <a:prstGeom prst="roundRect">
            <a:avLst>
              <a:gd name="adj" fmla="val 4615"/>
            </a:avLst>
          </a:prstGeom>
          <a:solidFill>
            <a:srgbClr val="EAEAEA"/>
          </a:solidFill>
          <a:ln w="12700">
            <a:solidFill>
              <a:srgbClr val="666666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ブラウザ</a:t>
            </a:r>
          </a:p>
        </p:txBody>
      </p:sp>
      <p:sp>
        <p:nvSpPr>
          <p:cNvPr id="8" name="R"/>
          <p:cNvSpPr/>
          <p:nvPr/>
        </p:nvSpPr>
        <p:spPr>
          <a:xfrm>
            <a:off x="7649766" y="666750"/>
            <a:ext cx="1785938" cy="773906"/>
          </a:xfrm>
          <a:prstGeom prst="roundRect">
            <a:avLst>
              <a:gd name="adj" fmla="val 4615"/>
            </a:avLst>
          </a:prstGeom>
          <a:solidFill>
            <a:srgbClr val="EAEAEA"/>
          </a:solidFill>
          <a:ln w="12700">
            <a:solidFill>
              <a:srgbClr val="666666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リソース API</a:t>
            </a:r>
          </a:p>
        </p:txBody>
      </p:sp>
      <p:sp>
        <p:nvSpPr>
          <p:cNvPr id="9" name="A"/>
          <p:cNvSpPr/>
          <p:nvPr/>
        </p:nvSpPr>
        <p:spPr>
          <a:xfrm>
            <a:off x="5137547" y="666750"/>
            <a:ext cx="1785938" cy="773906"/>
          </a:xfrm>
          <a:prstGeom prst="roundRect">
            <a:avLst>
              <a:gd name="adj" fmla="val 4615"/>
            </a:avLst>
          </a:prstGeom>
          <a:solidFill>
            <a:srgbClr val="EAEAEA"/>
          </a:solidFill>
          <a:ln w="12700">
            <a:solidFill>
              <a:srgbClr val="666666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認証サーバ</a:t>
            </a:r>
          </a:p>
        </p:txBody>
      </p:sp>
      <p:sp>
        <p:nvSpPr>
          <p:cNvPr id="10" name="B"/>
          <p:cNvSpPr/>
          <p:nvPr/>
        </p:nvSpPr>
        <p:spPr>
          <a:xfrm>
            <a:off x="2756297" y="666750"/>
            <a:ext cx="1785938" cy="773906"/>
          </a:xfrm>
          <a:prstGeom prst="roundRect">
            <a:avLst>
              <a:gd name="adj" fmla="val 4615"/>
            </a:avLst>
          </a:prstGeom>
          <a:solidFill>
            <a:srgbClr val="EAEAEA"/>
          </a:solidFill>
          <a:ln w="12700">
            <a:solidFill>
              <a:srgbClr val="666666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ブラウザ</a:t>
            </a:r>
          </a:p>
        </p:txBody>
      </p:sp>
      <p:sp>
        <p:nvSpPr>
          <p:cNvPr id="11" name="box"/>
          <p:cNvSpPr/>
          <p:nvPr/>
        </p:nvSpPr>
        <p:spPr>
          <a:xfrm>
            <a:off x="5970984" y="1964531"/>
            <a:ext cx="119063" cy="523875"/>
          </a:xfrm>
          <a:prstGeom prst="rect">
            <a:avLst/>
          </a:prstGeom>
          <a:solidFill>
            <a:srgbClr val="EDF2AE"/>
          </a:solidFill>
          <a:ln w="12700">
            <a:solidFill>
              <a:srgbClr val="666666"/>
            </a:solidFill>
          </a:ln>
        </p:spPr>
      </p:sp>
      <p:sp>
        <p:nvSpPr>
          <p:cNvPr id="12" name="box"/>
          <p:cNvSpPr/>
          <p:nvPr/>
        </p:nvSpPr>
        <p:spPr>
          <a:xfrm>
            <a:off x="8483203" y="3012281"/>
            <a:ext cx="119063" cy="1571625"/>
          </a:xfrm>
          <a:prstGeom prst="rect">
            <a:avLst/>
          </a:prstGeom>
          <a:solidFill>
            <a:srgbClr val="EDF2AE"/>
          </a:solidFill>
          <a:ln w="12700">
            <a:solidFill>
              <a:srgbClr val="666666"/>
            </a:solidFill>
          </a:ln>
        </p:spPr>
      </p:sp>
      <p:sp>
        <p:nvSpPr>
          <p:cNvPr id="13" name="トークン失効時は 401 を返し再ログインへ"/>
          <p:cNvSpPr/>
          <p:nvPr/>
        </p:nvSpPr>
        <p:spPr>
          <a:xfrm>
            <a:off x="3351609" y="4702969"/>
            <a:ext cx="5488781" cy="464344"/>
          </a:xfrm>
          <a:prstGeom prst="rect">
            <a:avLst/>
          </a:prstGeom>
          <a:solidFill>
            <a:srgbClr val="EDF2AE"/>
          </a:solidFill>
          <a:ln w="12700">
            <a:solidFill>
              <a:srgbClr val="666666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トークン失効時は 401 を返し再ログインへ</a:t>
            </a:r>
          </a:p>
        </p:txBody>
      </p:sp>
      <p:cxnSp>
        <p:nvCxnSpPr>
          <p:cNvPr id="14" name="line"/>
          <p:cNvCxnSpPr/>
          <p:nvPr/>
        </p:nvCxnSpPr>
        <p:spPr>
          <a:xfrm>
            <a:off x="3661172" y="1964531"/>
            <a:ext cx="2321719" cy="0"/>
          </a:xfrm>
          <a:prstGeom prst="straightConnector1">
            <a:avLst/>
          </a:prstGeom>
          <a:ln w="23812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line"/>
          <p:cNvCxnSpPr/>
          <p:nvPr/>
        </p:nvCxnSpPr>
        <p:spPr>
          <a:xfrm flipH="1">
            <a:off x="3696891" y="2488406"/>
            <a:ext cx="2274093" cy="0"/>
          </a:xfrm>
          <a:prstGeom prst="straightConnector1">
            <a:avLst/>
          </a:prstGeom>
          <a:ln w="23812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6" name="line"/>
          <p:cNvCxnSpPr/>
          <p:nvPr/>
        </p:nvCxnSpPr>
        <p:spPr>
          <a:xfrm>
            <a:off x="3661172" y="3012281"/>
            <a:ext cx="4833937" cy="0"/>
          </a:xfrm>
          <a:prstGeom prst="straightConnector1">
            <a:avLst/>
          </a:prstGeom>
          <a:ln w="23812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line"/>
          <p:cNvCxnSpPr/>
          <p:nvPr/>
        </p:nvCxnSpPr>
        <p:spPr>
          <a:xfrm flipH="1">
            <a:off x="6078141" y="3536156"/>
            <a:ext cx="2405062" cy="0"/>
          </a:xfrm>
          <a:prstGeom prst="straightConnector1">
            <a:avLst/>
          </a:prstGeom>
          <a:ln w="23812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8" name="line"/>
          <p:cNvCxnSpPr/>
          <p:nvPr/>
        </p:nvCxnSpPr>
        <p:spPr>
          <a:xfrm>
            <a:off x="6042422" y="4060031"/>
            <a:ext cx="2405062" cy="0"/>
          </a:xfrm>
          <a:prstGeom prst="straightConnector1">
            <a:avLst/>
          </a:prstGeom>
          <a:ln w="23812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cxnSp>
        <p:nvCxnSpPr>
          <p:cNvPr id="19" name="line"/>
          <p:cNvCxnSpPr/>
          <p:nvPr/>
        </p:nvCxnSpPr>
        <p:spPr>
          <a:xfrm flipH="1">
            <a:off x="3696891" y="4583906"/>
            <a:ext cx="4786312" cy="0"/>
          </a:xfrm>
          <a:prstGeom prst="straightConnector1">
            <a:avLst/>
          </a:prstGeom>
          <a:ln w="23812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sp>
        <p:nvSpPr>
          <p:cNvPr id="20" name="ログイン要求"/>
          <p:cNvSpPr/>
          <p:nvPr/>
        </p:nvSpPr>
        <p:spPr>
          <a:xfrm>
            <a:off x="4208859" y="1666875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ログイン要求</a:t>
            </a:r>
          </a:p>
        </p:txBody>
      </p:sp>
      <p:sp>
        <p:nvSpPr>
          <p:cNvPr id="21" name="アクセストークン"/>
          <p:cNvSpPr/>
          <p:nvPr/>
        </p:nvSpPr>
        <p:spPr>
          <a:xfrm>
            <a:off x="4030266" y="2190750"/>
            <a:ext cx="1619250" cy="28575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アクセストークン</a:t>
            </a:r>
          </a:p>
        </p:txBody>
      </p:sp>
      <p:sp>
        <p:nvSpPr>
          <p:cNvPr id="22" name="データ取得 (Bearer トークン)"/>
          <p:cNvSpPr/>
          <p:nvPr/>
        </p:nvSpPr>
        <p:spPr>
          <a:xfrm>
            <a:off x="4637484" y="2714625"/>
            <a:ext cx="2881313" cy="28575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データ取得 (Bearer トークン)</a:t>
            </a:r>
          </a:p>
        </p:txBody>
      </p:sp>
      <p:sp>
        <p:nvSpPr>
          <p:cNvPr id="23" name="トークン検証"/>
          <p:cNvSpPr/>
          <p:nvPr/>
        </p:nvSpPr>
        <p:spPr>
          <a:xfrm>
            <a:off x="6661547" y="3238500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トークン検証</a:t>
            </a:r>
          </a:p>
        </p:txBody>
      </p:sp>
      <p:sp>
        <p:nvSpPr>
          <p:cNvPr id="24" name="検証 OK"/>
          <p:cNvSpPr/>
          <p:nvPr/>
        </p:nvSpPr>
        <p:spPr>
          <a:xfrm>
            <a:off x="6846094" y="3762375"/>
            <a:ext cx="797719" cy="28575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検証 OK</a:t>
            </a:r>
          </a:p>
        </p:txBody>
      </p:sp>
      <p:sp>
        <p:nvSpPr>
          <p:cNvPr id="25" name="レスポンス JSON"/>
          <p:cNvSpPr/>
          <p:nvPr/>
        </p:nvSpPr>
        <p:spPr>
          <a:xfrm>
            <a:off x="5298281" y="4286250"/>
            <a:ext cx="1583531" cy="28575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500">
                <a:solidFill>
                  <a:srgbClr val="333333"/>
                </a:solidFill>
                <a:latin typeface="Noto Sans JP"/>
                <a:ea typeface="Noto Sans JP"/>
              </a:rPr>
              <a:t>レスポンス 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